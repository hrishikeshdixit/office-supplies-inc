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6" autoAdjust="0"/>
    <p:restoredTop sz="94660"/>
  </p:normalViewPr>
  <p:slideViewPr>
    <p:cSldViewPr snapToGrid="0">
      <p:cViewPr>
        <p:scale>
          <a:sx n="66" d="100"/>
          <a:sy n="66" d="100"/>
        </p:scale>
        <p:origin x="-138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AC21-5872-46D0-ADA9-CBA6149D3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B5599-4124-4A2F-B9CF-E06DA735D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969D8-DA5D-4BE4-BFE4-8650537A3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33E4E-A979-4A88-86FC-BAC96665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636E9-9EF3-47EE-AB68-3A65578A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7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69BC-9653-4D0D-9EA3-34D9073A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72CBC-54A1-4C85-AA71-FDE21EE1D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E3145-5567-4699-B18B-751F0CA53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3CCC-BACF-4CB4-BA91-F410DE882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82E77-7A06-4EFD-AC2A-B704DA936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4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C99B-F2A7-4265-A847-D3CB288C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7C53E-2CA5-491E-80E8-59B4E59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9ACC9-3047-4526-8093-99FEBB38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9EDAB-122B-453C-B96A-9894A8B8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47563-7A58-4D19-AA86-22791321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11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64D88-0596-4594-BFB0-0D00D8D35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0BBFC-B3A8-48F4-B9DE-CAF4A3542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F58B9-AB58-43CA-A5EB-C939A2418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41EC7-64A1-41C0-B033-F867D727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CDFD8-7D03-4E67-8A85-3F1E5D06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4D99D-ABE4-4F60-BE09-CF38C046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5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6C2B-076B-43C9-ADE8-A8FFDF7B9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8A44F-4FB7-4BF4-8E69-C8C0DC254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47447-D62A-449D-A839-5FC3EEE8F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5B561-3F14-47E4-BB7C-8F2798E66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AF281A-17D0-47EF-AD64-D26F5B363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D25D4-D31E-42EF-9A09-E6903300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040141-FCA3-4AB8-8C58-6206FC38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8B0F1-8A0F-4563-AA47-31124389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25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876B-3B59-41F8-A85F-B1AF39F5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E3F31-D8D0-424B-88C0-3BE8A61D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52152-10D0-4444-8063-9DEEB7DC7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8BA1F-8693-4A9D-B54F-A51F0FA1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0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3CD091-24FD-48FF-82F9-C077AC5DD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C5D1EB-E35D-4B59-87BB-66429E56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57260-412C-474A-810D-680747B8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81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6155-D472-4671-B933-E847D7B81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BA060-8EC4-4A06-93AA-99D5DAE56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D397E-B91F-4E31-BAE6-F230F0E12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538EB-0B57-4B60-B957-C268D50F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0832B-8224-424C-9DA0-38028B78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F054B-EF7A-4CFE-BAA4-0B40AC33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68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A3D6-B1F7-4ED6-AAB1-764835ECE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6BB674-8879-4A13-A65E-3DC6AC4D6F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D750A-0B39-4D0B-802F-3290A6880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D445A-73F9-475F-8676-66F3C44C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B8784-530F-41F8-843C-DC2C74DE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F1967-C895-4913-B5A8-77816D558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66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53354-19C4-405B-BE5F-351DFA0D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41693-5B49-4C57-B863-A972853B9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A09A8-31EF-45FE-8A31-E7B0D14B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F1DDF-C681-42A7-9570-D5B39F81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C22AA-3400-45D5-84BE-ED19FB81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0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4CCA2-2BDE-4A02-98EF-278886F38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38D9C-7CD2-4781-BAF5-03049FFAC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E1FA7-75D8-4A2B-9B30-230A3D59D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4AD81-4D7C-498E-B2CD-5D6CA4E84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371A6-001A-42FC-8C86-2C6C6725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89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7AD52-03F9-46DD-AE61-1E352D02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1C5EF-819F-4BC9-A283-8EFB20290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35BF2-988C-45AA-BAD7-5B045A0904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FBECF-2D4B-4B21-BA02-D11061128E5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6F3D4-72D3-4CD7-BD18-C4CE722B9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1966-26C4-4D7C-946B-569B63530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C8CD7-59BE-4540-A315-96200315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2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55E98D4-03AA-47A3-B684-979C4D0930F6}"/>
              </a:ext>
            </a:extLst>
          </p:cNvPr>
          <p:cNvSpPr/>
          <p:nvPr/>
        </p:nvSpPr>
        <p:spPr>
          <a:xfrm>
            <a:off x="4497356" y="3313055"/>
            <a:ext cx="770021" cy="359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Order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06EE97-73B7-4E07-9B3C-8C90491B00B0}"/>
              </a:ext>
            </a:extLst>
          </p:cNvPr>
          <p:cNvCxnSpPr>
            <a:cxnSpLocks/>
            <a:stCxn id="12" idx="0"/>
            <a:endCxn id="17" idx="2"/>
          </p:cNvCxnSpPr>
          <p:nvPr/>
        </p:nvCxnSpPr>
        <p:spPr>
          <a:xfrm flipH="1" flipV="1">
            <a:off x="4882036" y="2657152"/>
            <a:ext cx="331" cy="6559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B86119C-E88C-492B-AAB5-6F8E85B14D80}"/>
              </a:ext>
            </a:extLst>
          </p:cNvPr>
          <p:cNvSpPr/>
          <p:nvPr/>
        </p:nvSpPr>
        <p:spPr>
          <a:xfrm>
            <a:off x="4336604" y="2407899"/>
            <a:ext cx="1090864" cy="24925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 Rep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234D36-D593-4371-A47C-05810F28E6DC}"/>
              </a:ext>
            </a:extLst>
          </p:cNvPr>
          <p:cNvSpPr/>
          <p:nvPr/>
        </p:nvSpPr>
        <p:spPr>
          <a:xfrm>
            <a:off x="5673995" y="967730"/>
            <a:ext cx="1155029" cy="3867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Employee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90F516-A88A-4BEE-966E-A924431E4665}"/>
              </a:ext>
            </a:extLst>
          </p:cNvPr>
          <p:cNvSpPr/>
          <p:nvPr/>
        </p:nvSpPr>
        <p:spPr>
          <a:xfrm>
            <a:off x="7147560" y="2407080"/>
            <a:ext cx="770021" cy="2129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4CB1B5-7BD6-49D4-B984-A538008CCD3A}"/>
              </a:ext>
            </a:extLst>
          </p:cNvPr>
          <p:cNvCxnSpPr>
            <a:cxnSpLocks/>
          </p:cNvCxnSpPr>
          <p:nvPr/>
        </p:nvCxnSpPr>
        <p:spPr>
          <a:xfrm>
            <a:off x="4867100" y="1814004"/>
            <a:ext cx="26620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E3AD4F-EB3B-4303-8025-E00EA58E28A6}"/>
              </a:ext>
            </a:extLst>
          </p:cNvPr>
          <p:cNvCxnSpPr>
            <a:cxnSpLocks/>
            <a:stCxn id="23" idx="0"/>
            <a:endCxn id="20" idx="2"/>
          </p:cNvCxnSpPr>
          <p:nvPr/>
        </p:nvCxnSpPr>
        <p:spPr>
          <a:xfrm flipH="1" flipV="1">
            <a:off x="7532571" y="2620035"/>
            <a:ext cx="5513" cy="7076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B53F646-6375-4BC0-94EA-A510C139B464}"/>
              </a:ext>
            </a:extLst>
          </p:cNvPr>
          <p:cNvSpPr/>
          <p:nvPr/>
        </p:nvSpPr>
        <p:spPr>
          <a:xfrm>
            <a:off x="7153073" y="3327663"/>
            <a:ext cx="770021" cy="3330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B34A90-C870-491C-B42C-A940177FA2C0}"/>
              </a:ext>
            </a:extLst>
          </p:cNvPr>
          <p:cNvCxnSpPr>
            <a:cxnSpLocks/>
            <a:stCxn id="23" idx="1"/>
            <a:endCxn id="12" idx="3"/>
          </p:cNvCxnSpPr>
          <p:nvPr/>
        </p:nvCxnSpPr>
        <p:spPr>
          <a:xfrm flipH="1" flipV="1">
            <a:off x="5267377" y="3492819"/>
            <a:ext cx="1885696" cy="1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34C7A0B-A05B-48BB-ADCB-7F60A51B0036}"/>
              </a:ext>
            </a:extLst>
          </p:cNvPr>
          <p:cNvSpPr/>
          <p:nvPr/>
        </p:nvSpPr>
        <p:spPr>
          <a:xfrm>
            <a:off x="4515762" y="4451318"/>
            <a:ext cx="731921" cy="2817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Items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9B27DF-AECD-4D7A-8BBE-53ADC8FAE826}"/>
              </a:ext>
            </a:extLst>
          </p:cNvPr>
          <p:cNvSpPr txBox="1"/>
          <p:nvPr/>
        </p:nvSpPr>
        <p:spPr>
          <a:xfrm>
            <a:off x="4966669" y="2764734"/>
            <a:ext cx="67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takes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26FF3D-5950-42B0-A11A-50BD40121301}"/>
              </a:ext>
            </a:extLst>
          </p:cNvPr>
          <p:cNvSpPr txBox="1"/>
          <p:nvPr/>
        </p:nvSpPr>
        <p:spPr>
          <a:xfrm>
            <a:off x="7538084" y="2687435"/>
            <a:ext cx="1590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assigned to 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BB625E-77C3-4D54-A65A-B12ED3FDA295}"/>
              </a:ext>
            </a:extLst>
          </p:cNvPr>
          <p:cNvSpPr txBox="1"/>
          <p:nvPr/>
        </p:nvSpPr>
        <p:spPr>
          <a:xfrm>
            <a:off x="5909657" y="3170736"/>
            <a:ext cx="881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ships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F0E8389-698F-4F58-B620-747685329B76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251509" y="1354453"/>
            <a:ext cx="1" cy="4595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Line 93">
            <a:extLst>
              <a:ext uri="{FF2B5EF4-FFF2-40B4-BE49-F238E27FC236}">
                <a16:creationId xmlns:a16="http://schemas.microsoft.com/office/drawing/2014/main" id="{4DDD4354-CEC5-4497-BB9C-FFF10FE4C8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3416617"/>
            <a:ext cx="0" cy="156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Line 93">
            <a:extLst>
              <a:ext uri="{FF2B5EF4-FFF2-40B4-BE49-F238E27FC236}">
                <a16:creationId xmlns:a16="http://schemas.microsoft.com/office/drawing/2014/main" id="{7A2B49D0-B4B8-43A7-89BB-FFE01B3618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5061" y="3284230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Line 93">
            <a:extLst>
              <a:ext uri="{FF2B5EF4-FFF2-40B4-BE49-F238E27FC236}">
                <a16:creationId xmlns:a16="http://schemas.microsoft.com/office/drawing/2014/main" id="{E6AA4AD9-0775-4DFC-B5A6-CB60F7414C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5061" y="3246130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Line 93">
            <a:extLst>
              <a:ext uri="{FF2B5EF4-FFF2-40B4-BE49-F238E27FC236}">
                <a16:creationId xmlns:a16="http://schemas.microsoft.com/office/drawing/2014/main" id="{EA515752-FDDE-48D6-A496-63D1740468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9547" y="2701521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Line 93">
            <a:extLst>
              <a:ext uri="{FF2B5EF4-FFF2-40B4-BE49-F238E27FC236}">
                <a16:creationId xmlns:a16="http://schemas.microsoft.com/office/drawing/2014/main" id="{59DE1870-0C37-44B6-A88D-3414AC594D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9547" y="2669771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Line 74">
            <a:extLst>
              <a:ext uri="{FF2B5EF4-FFF2-40B4-BE49-F238E27FC236}">
                <a16:creationId xmlns:a16="http://schemas.microsoft.com/office/drawing/2014/main" id="{F5E03046-1427-4FA6-ACCB-9DF0A352AB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11707" y="3675903"/>
            <a:ext cx="73003" cy="1064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Line 75">
            <a:extLst>
              <a:ext uri="{FF2B5EF4-FFF2-40B4-BE49-F238E27FC236}">
                <a16:creationId xmlns:a16="http://schemas.microsoft.com/office/drawing/2014/main" id="{2168C12E-3F2D-4B1C-8D60-849B3E7FC6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4710" y="3674451"/>
            <a:ext cx="64850" cy="1044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Line 74">
            <a:extLst>
              <a:ext uri="{FF2B5EF4-FFF2-40B4-BE49-F238E27FC236}">
                <a16:creationId xmlns:a16="http://schemas.microsoft.com/office/drawing/2014/main" id="{5FFC6B88-B39E-4CD3-B0AC-D11C353B25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7005" y="3212857"/>
            <a:ext cx="64418" cy="1016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Line 75">
            <a:extLst>
              <a:ext uri="{FF2B5EF4-FFF2-40B4-BE49-F238E27FC236}">
                <a16:creationId xmlns:a16="http://schemas.microsoft.com/office/drawing/2014/main" id="{1445AF5D-F7B2-4B49-AA41-A177E1F929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1424" y="3204766"/>
            <a:ext cx="68137" cy="1097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Line 93">
            <a:extLst>
              <a:ext uri="{FF2B5EF4-FFF2-40B4-BE49-F238E27FC236}">
                <a16:creationId xmlns:a16="http://schemas.microsoft.com/office/drawing/2014/main" id="{9D07B347-7540-4004-B759-3F79F44AA3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8116" y="2744470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Line 93">
            <a:extLst>
              <a:ext uri="{FF2B5EF4-FFF2-40B4-BE49-F238E27FC236}">
                <a16:creationId xmlns:a16="http://schemas.microsoft.com/office/drawing/2014/main" id="{3C192E18-6826-4CC9-A8A4-B934C3BA2E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8116" y="2706370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60FAD96-6657-452D-AD2A-DCE3D85166B9}"/>
              </a:ext>
            </a:extLst>
          </p:cNvPr>
          <p:cNvCxnSpPr>
            <a:cxnSpLocks/>
          </p:cNvCxnSpPr>
          <p:nvPr/>
        </p:nvCxnSpPr>
        <p:spPr>
          <a:xfrm flipH="1" flipV="1">
            <a:off x="4867100" y="1817607"/>
            <a:ext cx="331" cy="5789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EE8A1BA-C8EA-42C3-BBB1-745F416BF8B9}"/>
              </a:ext>
            </a:extLst>
          </p:cNvPr>
          <p:cNvCxnSpPr>
            <a:cxnSpLocks/>
          </p:cNvCxnSpPr>
          <p:nvPr/>
        </p:nvCxnSpPr>
        <p:spPr>
          <a:xfrm flipH="1" flipV="1">
            <a:off x="7529702" y="1815353"/>
            <a:ext cx="331" cy="5789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08ECCFA-0F7B-4657-93EB-E6627F1BBCCB}"/>
              </a:ext>
            </a:extLst>
          </p:cNvPr>
          <p:cNvCxnSpPr>
            <a:cxnSpLocks/>
            <a:stCxn id="12" idx="2"/>
            <a:endCxn id="27" idx="0"/>
          </p:cNvCxnSpPr>
          <p:nvPr/>
        </p:nvCxnSpPr>
        <p:spPr>
          <a:xfrm flipH="1">
            <a:off x="4881723" y="3672582"/>
            <a:ext cx="644" cy="7787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Line 93">
            <a:extLst>
              <a:ext uri="{FF2B5EF4-FFF2-40B4-BE49-F238E27FC236}">
                <a16:creationId xmlns:a16="http://schemas.microsoft.com/office/drawing/2014/main" id="{DFF5F2C1-A67E-452F-A818-E1066C2DBB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4551" y="4345022"/>
            <a:ext cx="149613" cy="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7978C1-26A8-499F-805D-2360286BD1C8}"/>
              </a:ext>
            </a:extLst>
          </p:cNvPr>
          <p:cNvSpPr/>
          <p:nvPr/>
        </p:nvSpPr>
        <p:spPr>
          <a:xfrm>
            <a:off x="1721371" y="3292714"/>
            <a:ext cx="1155033" cy="3693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3F023E6-0992-4A24-95DE-364BA298E004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2876404" y="3477381"/>
            <a:ext cx="1630068" cy="34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64FC141-7D69-46B8-9580-396EBC64947D}"/>
              </a:ext>
            </a:extLst>
          </p:cNvPr>
          <p:cNvSpPr txBox="1"/>
          <p:nvPr/>
        </p:nvSpPr>
        <p:spPr>
          <a:xfrm>
            <a:off x="3178731" y="3170681"/>
            <a:ext cx="96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places</a:t>
            </a:r>
          </a:p>
        </p:txBody>
      </p:sp>
      <p:sp>
        <p:nvSpPr>
          <p:cNvPr id="55" name="Line 93">
            <a:extLst>
              <a:ext uri="{FF2B5EF4-FFF2-40B4-BE49-F238E27FC236}">
                <a16:creationId xmlns:a16="http://schemas.microsoft.com/office/drawing/2014/main" id="{FB1B3245-0A7E-4A08-91B2-1149AE255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8739" y="3399814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93">
            <a:extLst>
              <a:ext uri="{FF2B5EF4-FFF2-40B4-BE49-F238E27FC236}">
                <a16:creationId xmlns:a16="http://schemas.microsoft.com/office/drawing/2014/main" id="{0F322247-F737-46B1-8B3D-E0E4594C6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6730" y="3408834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74">
            <a:extLst>
              <a:ext uri="{FF2B5EF4-FFF2-40B4-BE49-F238E27FC236}">
                <a16:creationId xmlns:a16="http://schemas.microsoft.com/office/drawing/2014/main" id="{D26FE5EE-6012-4DF2-AD3E-02E9C1093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5329" y="3400103"/>
            <a:ext cx="149039" cy="830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Line 75">
            <a:extLst>
              <a:ext uri="{FF2B5EF4-FFF2-40B4-BE49-F238E27FC236}">
                <a16:creationId xmlns:a16="http://schemas.microsoft.com/office/drawing/2014/main" id="{3CBD305C-A73A-4A30-B41E-769E9AC95A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5329" y="3479762"/>
            <a:ext cx="152018" cy="719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Line 93">
            <a:extLst>
              <a:ext uri="{FF2B5EF4-FFF2-40B4-BE49-F238E27FC236}">
                <a16:creationId xmlns:a16="http://schemas.microsoft.com/office/drawing/2014/main" id="{886175FF-1938-4562-BC80-20AA19FF9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2124" y="3407002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9BA1020-D6F7-4236-8F9F-D51736999B9B}"/>
              </a:ext>
            </a:extLst>
          </p:cNvPr>
          <p:cNvSpPr/>
          <p:nvPr/>
        </p:nvSpPr>
        <p:spPr>
          <a:xfrm>
            <a:off x="4829378" y="3784192"/>
            <a:ext cx="105889" cy="1049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02A5ED2-CFA3-46FF-940C-DB7E8422156E}"/>
              </a:ext>
            </a:extLst>
          </p:cNvPr>
          <p:cNvSpPr/>
          <p:nvPr/>
        </p:nvSpPr>
        <p:spPr>
          <a:xfrm>
            <a:off x="6156805" y="1545764"/>
            <a:ext cx="193725" cy="2007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E0BAA-B1EB-4B4E-A3D7-A5FFE9B8C89A}"/>
              </a:ext>
            </a:extLst>
          </p:cNvPr>
          <p:cNvSpPr txBox="1"/>
          <p:nvPr/>
        </p:nvSpPr>
        <p:spPr>
          <a:xfrm>
            <a:off x="6156632" y="1507648"/>
            <a:ext cx="189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DB24C6-CA07-40A8-9E5E-109B37186A4F}"/>
              </a:ext>
            </a:extLst>
          </p:cNvPr>
          <p:cNvSpPr txBox="1"/>
          <p:nvPr/>
        </p:nvSpPr>
        <p:spPr>
          <a:xfrm>
            <a:off x="3784614" y="3881882"/>
            <a:ext cx="110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contains</a:t>
            </a:r>
          </a:p>
        </p:txBody>
      </p:sp>
      <p:sp>
        <p:nvSpPr>
          <p:cNvPr id="69" name="Line 93">
            <a:extLst>
              <a:ext uri="{FF2B5EF4-FFF2-40B4-BE49-F238E27FC236}">
                <a16:creationId xmlns:a16="http://schemas.microsoft.com/office/drawing/2014/main" id="{9D48789A-6AE0-46B0-85BC-E96701DA5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0619" y="1773522"/>
            <a:ext cx="189753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74">
            <a:extLst>
              <a:ext uri="{FF2B5EF4-FFF2-40B4-BE49-F238E27FC236}">
                <a16:creationId xmlns:a16="http://schemas.microsoft.com/office/drawing/2014/main" id="{E14B1F9D-3132-46F2-A33F-A2AEB694FA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7003" y="4348722"/>
            <a:ext cx="64418" cy="1016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Line 75">
            <a:extLst>
              <a:ext uri="{FF2B5EF4-FFF2-40B4-BE49-F238E27FC236}">
                <a16:creationId xmlns:a16="http://schemas.microsoft.com/office/drawing/2014/main" id="{5E9B002B-80E6-44C6-8C46-5CE6D0246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3942" y="4348163"/>
            <a:ext cx="65617" cy="1022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Title 1">
            <a:extLst>
              <a:ext uri="{FF2B5EF4-FFF2-40B4-BE49-F238E27FC236}">
                <a16:creationId xmlns:a16="http://schemas.microsoft.com/office/drawing/2014/main" id="{FCEEC6E5-78D5-483A-9921-60E100C52BBF}"/>
              </a:ext>
            </a:extLst>
          </p:cNvPr>
          <p:cNvSpPr txBox="1">
            <a:spLocks/>
          </p:cNvSpPr>
          <p:nvPr/>
        </p:nvSpPr>
        <p:spPr>
          <a:xfrm>
            <a:off x="302766" y="413729"/>
            <a:ext cx="3309878" cy="8032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ER Diagram</a:t>
            </a:r>
          </a:p>
        </p:txBody>
      </p:sp>
      <p:sp>
        <p:nvSpPr>
          <p:cNvPr id="51" name="Line 93">
            <a:extLst>
              <a:ext uri="{FF2B5EF4-FFF2-40B4-BE49-F238E27FC236}">
                <a16:creationId xmlns:a16="http://schemas.microsoft.com/office/drawing/2014/main" id="{B4DE4081-F71A-4830-813C-4B5183E364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7726" y="3208372"/>
            <a:ext cx="149613" cy="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74">
            <a:extLst>
              <a:ext uri="{FF2B5EF4-FFF2-40B4-BE49-F238E27FC236}">
                <a16:creationId xmlns:a16="http://schemas.microsoft.com/office/drawing/2014/main" id="{FB1BE948-418D-4813-A5F9-87D3317884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65046" y="3495206"/>
            <a:ext cx="99449" cy="548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75">
            <a:extLst>
              <a:ext uri="{FF2B5EF4-FFF2-40B4-BE49-F238E27FC236}">
                <a16:creationId xmlns:a16="http://schemas.microsoft.com/office/drawing/2014/main" id="{D950766C-71F9-40A7-A9AB-B247148420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9709" y="3456149"/>
            <a:ext cx="94786" cy="3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E1713BD-056C-4A73-AC42-EFBF732C3174}"/>
              </a:ext>
            </a:extLst>
          </p:cNvPr>
          <p:cNvSpPr/>
          <p:nvPr/>
        </p:nvSpPr>
        <p:spPr>
          <a:xfrm>
            <a:off x="5371672" y="3438463"/>
            <a:ext cx="105889" cy="1049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05188F6-A284-40E3-868F-2AF2D5F6BED1}"/>
              </a:ext>
            </a:extLst>
          </p:cNvPr>
          <p:cNvSpPr/>
          <p:nvPr/>
        </p:nvSpPr>
        <p:spPr>
          <a:xfrm>
            <a:off x="6964179" y="3438463"/>
            <a:ext cx="105889" cy="1049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66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55E98D4-03AA-47A3-B684-979C4D0930F6}"/>
              </a:ext>
            </a:extLst>
          </p:cNvPr>
          <p:cNvSpPr/>
          <p:nvPr/>
        </p:nvSpPr>
        <p:spPr>
          <a:xfrm>
            <a:off x="4497356" y="3313055"/>
            <a:ext cx="770021" cy="359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Order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06EE97-73B7-4E07-9B3C-8C90491B00B0}"/>
              </a:ext>
            </a:extLst>
          </p:cNvPr>
          <p:cNvCxnSpPr>
            <a:cxnSpLocks/>
            <a:stCxn id="12" idx="0"/>
            <a:endCxn id="17" idx="2"/>
          </p:cNvCxnSpPr>
          <p:nvPr/>
        </p:nvCxnSpPr>
        <p:spPr>
          <a:xfrm flipH="1" flipV="1">
            <a:off x="4882036" y="2657152"/>
            <a:ext cx="331" cy="6559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B86119C-E88C-492B-AAB5-6F8E85B14D80}"/>
              </a:ext>
            </a:extLst>
          </p:cNvPr>
          <p:cNvSpPr/>
          <p:nvPr/>
        </p:nvSpPr>
        <p:spPr>
          <a:xfrm>
            <a:off x="4336604" y="2407899"/>
            <a:ext cx="1090864" cy="24925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 Rep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234D36-D593-4371-A47C-05810F28E6DC}"/>
              </a:ext>
            </a:extLst>
          </p:cNvPr>
          <p:cNvSpPr/>
          <p:nvPr/>
        </p:nvSpPr>
        <p:spPr>
          <a:xfrm>
            <a:off x="5673995" y="967730"/>
            <a:ext cx="1155029" cy="3867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Employee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90F516-A88A-4BEE-966E-A924431E4665}"/>
              </a:ext>
            </a:extLst>
          </p:cNvPr>
          <p:cNvSpPr/>
          <p:nvPr/>
        </p:nvSpPr>
        <p:spPr>
          <a:xfrm>
            <a:off x="7147560" y="2407080"/>
            <a:ext cx="770021" cy="2129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E3AD4F-EB3B-4303-8025-E00EA58E28A6}"/>
              </a:ext>
            </a:extLst>
          </p:cNvPr>
          <p:cNvCxnSpPr>
            <a:cxnSpLocks/>
            <a:stCxn id="23" idx="0"/>
            <a:endCxn id="20" idx="2"/>
          </p:cNvCxnSpPr>
          <p:nvPr/>
        </p:nvCxnSpPr>
        <p:spPr>
          <a:xfrm flipH="1" flipV="1">
            <a:off x="7532571" y="2620035"/>
            <a:ext cx="5513" cy="7076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B53F646-6375-4BC0-94EA-A510C139B464}"/>
              </a:ext>
            </a:extLst>
          </p:cNvPr>
          <p:cNvSpPr/>
          <p:nvPr/>
        </p:nvSpPr>
        <p:spPr>
          <a:xfrm>
            <a:off x="7153073" y="3327663"/>
            <a:ext cx="770021" cy="3330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4C7A0B-A05B-48BB-ADCB-7F60A51B0036}"/>
              </a:ext>
            </a:extLst>
          </p:cNvPr>
          <p:cNvSpPr/>
          <p:nvPr/>
        </p:nvSpPr>
        <p:spPr>
          <a:xfrm>
            <a:off x="4515762" y="5687456"/>
            <a:ext cx="731921" cy="2817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Items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9B27DF-AECD-4D7A-8BBE-53ADC8FAE826}"/>
              </a:ext>
            </a:extLst>
          </p:cNvPr>
          <p:cNvSpPr txBox="1"/>
          <p:nvPr/>
        </p:nvSpPr>
        <p:spPr>
          <a:xfrm>
            <a:off x="4966669" y="2764734"/>
            <a:ext cx="67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takes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26FF3D-5950-42B0-A11A-50BD40121301}"/>
              </a:ext>
            </a:extLst>
          </p:cNvPr>
          <p:cNvSpPr txBox="1"/>
          <p:nvPr/>
        </p:nvSpPr>
        <p:spPr>
          <a:xfrm>
            <a:off x="7538084" y="2687435"/>
            <a:ext cx="1590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assigned to 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BB625E-77C3-4D54-A65A-B12ED3FDA295}"/>
              </a:ext>
            </a:extLst>
          </p:cNvPr>
          <p:cNvSpPr txBox="1"/>
          <p:nvPr/>
        </p:nvSpPr>
        <p:spPr>
          <a:xfrm>
            <a:off x="5909657" y="3170736"/>
            <a:ext cx="881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ships</a:t>
            </a:r>
          </a:p>
        </p:txBody>
      </p:sp>
      <p:sp>
        <p:nvSpPr>
          <p:cNvPr id="76" name="Line 93">
            <a:extLst>
              <a:ext uri="{FF2B5EF4-FFF2-40B4-BE49-F238E27FC236}">
                <a16:creationId xmlns:a16="http://schemas.microsoft.com/office/drawing/2014/main" id="{7A2B49D0-B4B8-43A7-89BB-FFE01B3618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5061" y="3284230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Line 93">
            <a:extLst>
              <a:ext uri="{FF2B5EF4-FFF2-40B4-BE49-F238E27FC236}">
                <a16:creationId xmlns:a16="http://schemas.microsoft.com/office/drawing/2014/main" id="{E6AA4AD9-0775-4DFC-B5A6-CB60F7414C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5061" y="3246130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Line 93">
            <a:extLst>
              <a:ext uri="{FF2B5EF4-FFF2-40B4-BE49-F238E27FC236}">
                <a16:creationId xmlns:a16="http://schemas.microsoft.com/office/drawing/2014/main" id="{EA515752-FDDE-48D6-A496-63D1740468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9547" y="2701521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Line 93">
            <a:extLst>
              <a:ext uri="{FF2B5EF4-FFF2-40B4-BE49-F238E27FC236}">
                <a16:creationId xmlns:a16="http://schemas.microsoft.com/office/drawing/2014/main" id="{59DE1870-0C37-44B6-A88D-3414AC594D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9547" y="2669771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Line 74">
            <a:extLst>
              <a:ext uri="{FF2B5EF4-FFF2-40B4-BE49-F238E27FC236}">
                <a16:creationId xmlns:a16="http://schemas.microsoft.com/office/drawing/2014/main" id="{F5E03046-1427-4FA6-ACCB-9DF0A352AB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84029" y="4406649"/>
            <a:ext cx="52032" cy="963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Line 75">
            <a:extLst>
              <a:ext uri="{FF2B5EF4-FFF2-40B4-BE49-F238E27FC236}">
                <a16:creationId xmlns:a16="http://schemas.microsoft.com/office/drawing/2014/main" id="{2168C12E-3F2D-4B1C-8D60-849B3E7FC6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8029" y="4410094"/>
            <a:ext cx="50180" cy="92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Line 93">
            <a:extLst>
              <a:ext uri="{FF2B5EF4-FFF2-40B4-BE49-F238E27FC236}">
                <a16:creationId xmlns:a16="http://schemas.microsoft.com/office/drawing/2014/main" id="{9D07B347-7540-4004-B759-3F79F44AA3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4411" y="2744470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Line 93">
            <a:extLst>
              <a:ext uri="{FF2B5EF4-FFF2-40B4-BE49-F238E27FC236}">
                <a16:creationId xmlns:a16="http://schemas.microsoft.com/office/drawing/2014/main" id="{3C192E18-6826-4CC9-A8A4-B934C3BA2E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4411" y="2706370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08ECCFA-0F7B-4657-93EB-E6627F1BBCCB}"/>
              </a:ext>
            </a:extLst>
          </p:cNvPr>
          <p:cNvCxnSpPr>
            <a:cxnSpLocks/>
            <a:stCxn id="12" idx="2"/>
            <a:endCxn id="27" idx="0"/>
          </p:cNvCxnSpPr>
          <p:nvPr/>
        </p:nvCxnSpPr>
        <p:spPr>
          <a:xfrm flipH="1">
            <a:off x="4881723" y="3672582"/>
            <a:ext cx="644" cy="20148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Line 74">
            <a:extLst>
              <a:ext uri="{FF2B5EF4-FFF2-40B4-BE49-F238E27FC236}">
                <a16:creationId xmlns:a16="http://schemas.microsoft.com/office/drawing/2014/main" id="{32DCE438-DD2B-4241-8BF1-BFE90E465A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4029" y="4850158"/>
            <a:ext cx="75005" cy="1270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Line 75">
            <a:extLst>
              <a:ext uri="{FF2B5EF4-FFF2-40B4-BE49-F238E27FC236}">
                <a16:creationId xmlns:a16="http://schemas.microsoft.com/office/drawing/2014/main" id="{2AAEEA2A-1C33-47EA-839B-9085C3F47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4105" y="4861517"/>
            <a:ext cx="74372" cy="1164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97A3C7D4-E9CA-47C3-94B7-86F25A5E4F8C}"/>
              </a:ext>
            </a:extLst>
          </p:cNvPr>
          <p:cNvSpPr txBox="1">
            <a:spLocks/>
          </p:cNvSpPr>
          <p:nvPr/>
        </p:nvSpPr>
        <p:spPr>
          <a:xfrm>
            <a:off x="302766" y="413729"/>
            <a:ext cx="3309878" cy="8032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Internal Model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D36AA68-2B92-433E-980F-819A110FE2AE}"/>
              </a:ext>
            </a:extLst>
          </p:cNvPr>
          <p:cNvSpPr/>
          <p:nvPr/>
        </p:nvSpPr>
        <p:spPr>
          <a:xfrm>
            <a:off x="4241287" y="4507939"/>
            <a:ext cx="1290370" cy="359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Order_Item</a:t>
            </a:r>
          </a:p>
        </p:txBody>
      </p:sp>
      <p:sp>
        <p:nvSpPr>
          <p:cNvPr id="57" name="Line 93">
            <a:extLst>
              <a:ext uri="{FF2B5EF4-FFF2-40B4-BE49-F238E27FC236}">
                <a16:creationId xmlns:a16="http://schemas.microsoft.com/office/drawing/2014/main" id="{9FCCED6B-7DE3-400B-A312-DDF3A52305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4411" y="3760470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93">
            <a:extLst>
              <a:ext uri="{FF2B5EF4-FFF2-40B4-BE49-F238E27FC236}">
                <a16:creationId xmlns:a16="http://schemas.microsoft.com/office/drawing/2014/main" id="{BEFD94EC-299A-4A96-86EB-6BBC944EA0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4411" y="3722370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93">
            <a:extLst>
              <a:ext uri="{FF2B5EF4-FFF2-40B4-BE49-F238E27FC236}">
                <a16:creationId xmlns:a16="http://schemas.microsoft.com/office/drawing/2014/main" id="{55DA9228-654B-4234-B6CA-526663636B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2031" y="5626528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93">
            <a:extLst>
              <a:ext uri="{FF2B5EF4-FFF2-40B4-BE49-F238E27FC236}">
                <a16:creationId xmlns:a16="http://schemas.microsoft.com/office/drawing/2014/main" id="{DB09420C-E54B-4A9A-9291-AC93089463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2031" y="5588428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7978C1-26A8-499F-805D-2360286BD1C8}"/>
              </a:ext>
            </a:extLst>
          </p:cNvPr>
          <p:cNvSpPr/>
          <p:nvPr/>
        </p:nvSpPr>
        <p:spPr>
          <a:xfrm>
            <a:off x="1721371" y="3292714"/>
            <a:ext cx="1155033" cy="3693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3F023E6-0992-4A24-95DE-364BA298E004}"/>
              </a:ext>
            </a:extLst>
          </p:cNvPr>
          <p:cNvCxnSpPr>
            <a:cxnSpLocks/>
            <a:stCxn id="52" idx="3"/>
            <a:endCxn id="12" idx="1"/>
          </p:cNvCxnSpPr>
          <p:nvPr/>
        </p:nvCxnSpPr>
        <p:spPr>
          <a:xfrm>
            <a:off x="2876404" y="3477381"/>
            <a:ext cx="1620952" cy="15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64FC141-7D69-46B8-9580-396EBC64947D}"/>
              </a:ext>
            </a:extLst>
          </p:cNvPr>
          <p:cNvSpPr txBox="1"/>
          <p:nvPr/>
        </p:nvSpPr>
        <p:spPr>
          <a:xfrm>
            <a:off x="3178731" y="3170681"/>
            <a:ext cx="96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places</a:t>
            </a:r>
          </a:p>
        </p:txBody>
      </p:sp>
      <p:sp>
        <p:nvSpPr>
          <p:cNvPr id="55" name="Line 93">
            <a:extLst>
              <a:ext uri="{FF2B5EF4-FFF2-40B4-BE49-F238E27FC236}">
                <a16:creationId xmlns:a16="http://schemas.microsoft.com/office/drawing/2014/main" id="{FB1B3245-0A7E-4A08-91B2-1149AE255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8739" y="3408281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93">
            <a:extLst>
              <a:ext uri="{FF2B5EF4-FFF2-40B4-BE49-F238E27FC236}">
                <a16:creationId xmlns:a16="http://schemas.microsoft.com/office/drawing/2014/main" id="{0F322247-F737-46B1-8B3D-E0E4594C6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6730" y="3415977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74">
            <a:extLst>
              <a:ext uri="{FF2B5EF4-FFF2-40B4-BE49-F238E27FC236}">
                <a16:creationId xmlns:a16="http://schemas.microsoft.com/office/drawing/2014/main" id="{D26FE5EE-6012-4DF2-AD3E-02E9C1093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5143" y="3442720"/>
            <a:ext cx="156214" cy="4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Line 75">
            <a:extLst>
              <a:ext uri="{FF2B5EF4-FFF2-40B4-BE49-F238E27FC236}">
                <a16:creationId xmlns:a16="http://schemas.microsoft.com/office/drawing/2014/main" id="{3CBD305C-A73A-4A30-B41E-769E9AC95A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6730" y="3492509"/>
            <a:ext cx="156214" cy="484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Line 93">
            <a:extLst>
              <a:ext uri="{FF2B5EF4-FFF2-40B4-BE49-F238E27FC236}">
                <a16:creationId xmlns:a16="http://schemas.microsoft.com/office/drawing/2014/main" id="{886175FF-1938-4562-BC80-20AA19FF9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2124" y="3410706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DCD736-C202-449C-A47C-91E5A4B3FA90}"/>
              </a:ext>
            </a:extLst>
          </p:cNvPr>
          <p:cNvCxnSpPr>
            <a:stCxn id="17" idx="0"/>
            <a:endCxn id="18" idx="2"/>
          </p:cNvCxnSpPr>
          <p:nvPr/>
        </p:nvCxnSpPr>
        <p:spPr>
          <a:xfrm flipV="1">
            <a:off x="4882036" y="1354453"/>
            <a:ext cx="1369474" cy="10534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1E322D-56ED-4048-AE5E-EABE5264FB39}"/>
              </a:ext>
            </a:extLst>
          </p:cNvPr>
          <p:cNvCxnSpPr>
            <a:stCxn id="20" idx="0"/>
            <a:endCxn id="18" idx="2"/>
          </p:cNvCxnSpPr>
          <p:nvPr/>
        </p:nvCxnSpPr>
        <p:spPr>
          <a:xfrm flipH="1" flipV="1">
            <a:off x="6251510" y="1354453"/>
            <a:ext cx="1281061" cy="1052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Line 74">
            <a:extLst>
              <a:ext uri="{FF2B5EF4-FFF2-40B4-BE49-F238E27FC236}">
                <a16:creationId xmlns:a16="http://schemas.microsoft.com/office/drawing/2014/main" id="{E78E1C21-937B-4A2F-9B42-CCF4F3E3701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87457" y="3214892"/>
            <a:ext cx="62420" cy="102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Line 75">
            <a:extLst>
              <a:ext uri="{FF2B5EF4-FFF2-40B4-BE49-F238E27FC236}">
                <a16:creationId xmlns:a16="http://schemas.microsoft.com/office/drawing/2014/main" id="{AD5EAA72-F075-47EF-BE11-EE01705AD8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8029" y="3216539"/>
            <a:ext cx="50180" cy="944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398A540-EE32-4DAC-8AC3-1B1B05969C9A}"/>
              </a:ext>
            </a:extLst>
          </p:cNvPr>
          <p:cNvSpPr/>
          <p:nvPr/>
        </p:nvSpPr>
        <p:spPr>
          <a:xfrm>
            <a:off x="4829378" y="3104742"/>
            <a:ext cx="105889" cy="1049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2F5CDDD-7CC3-4D03-88FA-229930DD4190}"/>
              </a:ext>
            </a:extLst>
          </p:cNvPr>
          <p:cNvSpPr/>
          <p:nvPr/>
        </p:nvSpPr>
        <p:spPr>
          <a:xfrm>
            <a:off x="4830172" y="4977992"/>
            <a:ext cx="105889" cy="1049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AA5F873-E1B1-488F-B12D-6FFB5EF260FB}"/>
              </a:ext>
            </a:extLst>
          </p:cNvPr>
          <p:cNvSpPr/>
          <p:nvPr/>
        </p:nvSpPr>
        <p:spPr>
          <a:xfrm rot="3154926">
            <a:off x="5056656" y="2190336"/>
            <a:ext cx="105889" cy="1049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C57AE1B-A55F-4854-B6C1-24286FE2A7BF}"/>
              </a:ext>
            </a:extLst>
          </p:cNvPr>
          <p:cNvSpPr/>
          <p:nvPr/>
        </p:nvSpPr>
        <p:spPr>
          <a:xfrm rot="18542848">
            <a:off x="7288195" y="2198217"/>
            <a:ext cx="105889" cy="1049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Line 93">
            <a:extLst>
              <a:ext uri="{FF2B5EF4-FFF2-40B4-BE49-F238E27FC236}">
                <a16:creationId xmlns:a16="http://schemas.microsoft.com/office/drawing/2014/main" id="{A495FC01-1BE1-4511-9B7F-665DCAA89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650" y="2228850"/>
            <a:ext cx="162950" cy="1532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Line 93">
            <a:extLst>
              <a:ext uri="{FF2B5EF4-FFF2-40B4-BE49-F238E27FC236}">
                <a16:creationId xmlns:a16="http://schemas.microsoft.com/office/drawing/2014/main" id="{466EFEF3-4222-4345-B1B7-E5F2DDA6D9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1410" y="2233749"/>
            <a:ext cx="148200" cy="132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Line 93">
            <a:extLst>
              <a:ext uri="{FF2B5EF4-FFF2-40B4-BE49-F238E27FC236}">
                <a16:creationId xmlns:a16="http://schemas.microsoft.com/office/drawing/2014/main" id="{03CEE8F4-55E7-420C-9415-73708781C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6864" y="1441220"/>
            <a:ext cx="155574" cy="156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93">
            <a:extLst>
              <a:ext uri="{FF2B5EF4-FFF2-40B4-BE49-F238E27FC236}">
                <a16:creationId xmlns:a16="http://schemas.microsoft.com/office/drawing/2014/main" id="{B05F5FF6-8CCB-42F5-B4DF-453314FBB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0783" y="1402840"/>
            <a:ext cx="155574" cy="156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93">
            <a:extLst>
              <a:ext uri="{FF2B5EF4-FFF2-40B4-BE49-F238E27FC236}">
                <a16:creationId xmlns:a16="http://schemas.microsoft.com/office/drawing/2014/main" id="{5333E928-1AEB-4446-8EB3-67A5D0F1CC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534" y="1460779"/>
            <a:ext cx="148200" cy="132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93">
            <a:extLst>
              <a:ext uri="{FF2B5EF4-FFF2-40B4-BE49-F238E27FC236}">
                <a16:creationId xmlns:a16="http://schemas.microsoft.com/office/drawing/2014/main" id="{00FC08E3-229D-4586-A6FB-F75566E53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58839" y="1428241"/>
            <a:ext cx="148200" cy="132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C1F786-21E6-4E76-9806-1A242C20937C}"/>
              </a:ext>
            </a:extLst>
          </p:cNvPr>
          <p:cNvSpPr txBox="1"/>
          <p:nvPr/>
        </p:nvSpPr>
        <p:spPr>
          <a:xfrm>
            <a:off x="3113234" y="4503036"/>
            <a:ext cx="110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contains</a:t>
            </a:r>
          </a:p>
        </p:txBody>
      </p:sp>
      <p:sp>
        <p:nvSpPr>
          <p:cNvPr id="70" name="Line 93">
            <a:extLst>
              <a:ext uri="{FF2B5EF4-FFF2-40B4-BE49-F238E27FC236}">
                <a16:creationId xmlns:a16="http://schemas.microsoft.com/office/drawing/2014/main" id="{A90CD7D9-A42F-4B62-AC95-B891F3833B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3161" y="4406649"/>
            <a:ext cx="1555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FFA9262-5505-41B8-A4B4-A42C9091AA3D}"/>
              </a:ext>
            </a:extLst>
          </p:cNvPr>
          <p:cNvCxnSpPr>
            <a:cxnSpLocks/>
          </p:cNvCxnSpPr>
          <p:nvPr/>
        </p:nvCxnSpPr>
        <p:spPr>
          <a:xfrm flipH="1" flipV="1">
            <a:off x="5267377" y="3492819"/>
            <a:ext cx="1885696" cy="1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Line 93">
            <a:extLst>
              <a:ext uri="{FF2B5EF4-FFF2-40B4-BE49-F238E27FC236}">
                <a16:creationId xmlns:a16="http://schemas.microsoft.com/office/drawing/2014/main" id="{848340BE-E8D3-4074-9CAD-7FA96651C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3416617"/>
            <a:ext cx="0" cy="156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Line 74">
            <a:extLst>
              <a:ext uri="{FF2B5EF4-FFF2-40B4-BE49-F238E27FC236}">
                <a16:creationId xmlns:a16="http://schemas.microsoft.com/office/drawing/2014/main" id="{BD238955-897B-47DB-ACA6-149C5ABC28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65046" y="3495206"/>
            <a:ext cx="99449" cy="548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Line 75">
            <a:extLst>
              <a:ext uri="{FF2B5EF4-FFF2-40B4-BE49-F238E27FC236}">
                <a16:creationId xmlns:a16="http://schemas.microsoft.com/office/drawing/2014/main" id="{7624110A-5432-4075-B674-FF8790A45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9709" y="3456149"/>
            <a:ext cx="94786" cy="3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0ED4533-2326-4776-9BE1-A967B4FE0D3C}"/>
              </a:ext>
            </a:extLst>
          </p:cNvPr>
          <p:cNvSpPr/>
          <p:nvPr/>
        </p:nvSpPr>
        <p:spPr>
          <a:xfrm>
            <a:off x="5371672" y="3438463"/>
            <a:ext cx="105889" cy="1049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3F82892-ED1D-4F46-8CAE-94C2E4E4149F}"/>
              </a:ext>
            </a:extLst>
          </p:cNvPr>
          <p:cNvSpPr/>
          <p:nvPr/>
        </p:nvSpPr>
        <p:spPr>
          <a:xfrm>
            <a:off x="6964179" y="3438463"/>
            <a:ext cx="105889" cy="1049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122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516D9-858E-43BA-9E69-CD27621E8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1185545"/>
            <a:ext cx="10515600" cy="4351338"/>
          </a:xfrm>
        </p:spPr>
        <p:txBody>
          <a:bodyPr>
            <a:noAutofit/>
          </a:bodyPr>
          <a:lstStyle/>
          <a:p>
            <a:r>
              <a:rPr lang="en-US" sz="1100" b="1" dirty="0"/>
              <a:t>CUSTOMER</a:t>
            </a:r>
            <a:r>
              <a:rPr lang="en-US" sz="1100" dirty="0"/>
              <a:t> (</a:t>
            </a:r>
            <a:r>
              <a:rPr lang="en-US" sz="1100" u="sng" dirty="0"/>
              <a:t>CUS_ID</a:t>
            </a:r>
            <a:r>
              <a:rPr lang="en-US" sz="1100" dirty="0"/>
              <a:t>, Cus_Name, Contact_Name, Contact_Phone, Billing_Address, Billing_City, Billing_State, Billing_Zip)</a:t>
            </a:r>
          </a:p>
          <a:p>
            <a:r>
              <a:rPr lang="en-US" sz="1100" b="1" dirty="0"/>
              <a:t>EMPLOYEE</a:t>
            </a:r>
            <a:r>
              <a:rPr lang="en-US" sz="1100" dirty="0"/>
              <a:t>(</a:t>
            </a:r>
            <a:r>
              <a:rPr lang="en-US" sz="1100" u="sng" dirty="0"/>
              <a:t>EMPID</a:t>
            </a:r>
            <a:r>
              <a:rPr lang="en-US" sz="1100" dirty="0"/>
              <a:t>, Emp_Name, Job_Role, Phone, Salary, E_SSN)</a:t>
            </a:r>
          </a:p>
          <a:p>
            <a:r>
              <a:rPr lang="en-US" sz="1100" b="1" dirty="0"/>
              <a:t>SALES_REP </a:t>
            </a:r>
            <a:r>
              <a:rPr lang="en-US" sz="1100" dirty="0"/>
              <a:t>(</a:t>
            </a:r>
            <a:r>
              <a:rPr lang="en-US" sz="1100" u="sng" dirty="0"/>
              <a:t>EMP_ID</a:t>
            </a:r>
            <a:r>
              <a:rPr lang="en-US" sz="1100" dirty="0"/>
              <a:t> (Primary Key and Foreign Key Referencing Table Employee), Commission, Salary)</a:t>
            </a:r>
          </a:p>
          <a:p>
            <a:r>
              <a:rPr lang="en-US" sz="1100" b="1" dirty="0"/>
              <a:t>TRUCK </a:t>
            </a:r>
            <a:r>
              <a:rPr lang="en-US" sz="1100" dirty="0"/>
              <a:t>(</a:t>
            </a:r>
            <a:r>
              <a:rPr lang="en-US" sz="1100" u="sng" dirty="0"/>
              <a:t>TRUCKID</a:t>
            </a:r>
            <a:r>
              <a:rPr lang="en-US" sz="1100" dirty="0"/>
              <a:t>, License_Plate, License_Plate_Exp)</a:t>
            </a:r>
          </a:p>
          <a:p>
            <a:r>
              <a:rPr lang="en-US" sz="1100" b="1" dirty="0"/>
              <a:t>DRIVER </a:t>
            </a:r>
            <a:r>
              <a:rPr lang="en-US" sz="1100" dirty="0"/>
              <a:t>(</a:t>
            </a:r>
            <a:r>
              <a:rPr lang="en-US" sz="1100" u="sng" dirty="0"/>
              <a:t>EMPID</a:t>
            </a:r>
            <a:r>
              <a:rPr lang="en-US" sz="1100" dirty="0"/>
              <a:t> (Primary Key and Foreign Key Referencing Table Employee), LicenseNumber, LicenseNumber_Exp, </a:t>
            </a:r>
            <a:r>
              <a:rPr lang="en-US" sz="1100" u="sng" dirty="0"/>
              <a:t>TRUCKID</a:t>
            </a:r>
            <a:r>
              <a:rPr lang="en-US" sz="1100" dirty="0"/>
              <a:t> (Foreign Key Referencing Table Truck))</a:t>
            </a:r>
          </a:p>
          <a:p>
            <a:r>
              <a:rPr lang="en-US" sz="1100" b="1" dirty="0"/>
              <a:t>ORDER</a:t>
            </a:r>
            <a:r>
              <a:rPr lang="en-US" sz="1100" dirty="0"/>
              <a:t> (</a:t>
            </a:r>
            <a:r>
              <a:rPr lang="en-US" sz="1100" u="sng" dirty="0"/>
              <a:t>ORDERID</a:t>
            </a:r>
            <a:r>
              <a:rPr lang="en-US" sz="1100" dirty="0"/>
              <a:t>, </a:t>
            </a:r>
            <a:r>
              <a:rPr lang="en-US" sz="1100" u="sng" dirty="0"/>
              <a:t>SalesRepID</a:t>
            </a:r>
            <a:r>
              <a:rPr lang="en-US" sz="1100" dirty="0"/>
              <a:t> (Foreign Key Referencing Table Sales_Rep), </a:t>
            </a:r>
            <a:r>
              <a:rPr lang="en-US" sz="1100" u="sng" dirty="0"/>
              <a:t>TruckID</a:t>
            </a:r>
            <a:r>
              <a:rPr lang="en-US" sz="1100" dirty="0"/>
              <a:t> (Foreign Key Referencing Table Truck), Delivery_Address, Delivery_City, Delivery_State, Delivery_ZIP, Delivery, Order_Date, </a:t>
            </a:r>
            <a:r>
              <a:rPr lang="en-US" sz="1100" u="sng" dirty="0"/>
              <a:t>CUS_ID</a:t>
            </a:r>
            <a:r>
              <a:rPr lang="en-US" sz="1100" dirty="0"/>
              <a:t> (Foreign Key Referencing Table Customer))</a:t>
            </a:r>
          </a:p>
          <a:p>
            <a:r>
              <a:rPr lang="en-US" sz="1100" b="1" dirty="0"/>
              <a:t>ITEM </a:t>
            </a:r>
            <a:r>
              <a:rPr lang="en-US" sz="1100" dirty="0"/>
              <a:t>(</a:t>
            </a:r>
            <a:r>
              <a:rPr lang="en-US" sz="1100" u="sng" dirty="0"/>
              <a:t>ITEMID</a:t>
            </a:r>
            <a:r>
              <a:rPr lang="en-US" sz="1100" dirty="0"/>
              <a:t>, Item_Description, Available_Units, Unit_Price)</a:t>
            </a:r>
          </a:p>
          <a:p>
            <a:r>
              <a:rPr lang="en-US" sz="1100" b="1" dirty="0"/>
              <a:t>ORDER_ITEM </a:t>
            </a:r>
            <a:r>
              <a:rPr lang="en-US" sz="1100" dirty="0"/>
              <a:t>(</a:t>
            </a:r>
            <a:r>
              <a:rPr lang="en-US" sz="1100" u="sng" dirty="0"/>
              <a:t>ORDERID</a:t>
            </a:r>
            <a:r>
              <a:rPr lang="en-US" sz="1100" dirty="0"/>
              <a:t> (Foreign Key Referencing Table Orders), </a:t>
            </a:r>
            <a:r>
              <a:rPr lang="en-US" sz="1100" u="sng" dirty="0"/>
              <a:t>ITEMID</a:t>
            </a:r>
            <a:r>
              <a:rPr lang="en-US" sz="1100" dirty="0"/>
              <a:t> (Foreign Key Referencing Table Item), Quantity, Unit_Sale_Price)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748465-3762-44C1-85B7-9F3EEB62EA3E}"/>
              </a:ext>
            </a:extLst>
          </p:cNvPr>
          <p:cNvSpPr txBox="1">
            <a:spLocks/>
          </p:cNvSpPr>
          <p:nvPr/>
        </p:nvSpPr>
        <p:spPr>
          <a:xfrm>
            <a:off x="302766" y="413729"/>
            <a:ext cx="3309878" cy="8032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Relational Schema</a:t>
            </a:r>
          </a:p>
        </p:txBody>
      </p:sp>
    </p:spTree>
    <p:extLst>
      <p:ext uri="{BB962C8B-B14F-4D97-AF65-F5344CB8AC3E}">
        <p14:creationId xmlns:p14="http://schemas.microsoft.com/office/powerpoint/2010/main" val="3649416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4308</TotalTime>
  <Words>256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Dixit, Hrishikesh Umesh</cp:lastModifiedBy>
  <cp:revision>43</cp:revision>
  <dcterms:created xsi:type="dcterms:W3CDTF">2025-04-16T21:22:43Z</dcterms:created>
  <dcterms:modified xsi:type="dcterms:W3CDTF">2025-05-04T04:29:25Z</dcterms:modified>
</cp:coreProperties>
</file>